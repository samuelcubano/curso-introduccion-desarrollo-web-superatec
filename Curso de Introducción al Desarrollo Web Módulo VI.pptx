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Montserrat Bold" charset="1" panose="00000800000000000000"/>
      <p:regular r:id="rId18"/>
    </p:embeddedFont>
    <p:embeddedFont>
      <p:font typeface="Montserrat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053410" y="4945294"/>
            <a:ext cx="13403694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Módulo VI</a:t>
            </a:r>
          </a:p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INTRODUCCIÓN AL DES</a:t>
            </a: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ARROLLO WEB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863591" y="1339840"/>
            <a:ext cx="12560818" cy="970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Repaso del Módulo anterior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17474" y="4236871"/>
            <a:ext cx="9258379" cy="323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1850" indent="-460925" lvl="1">
              <a:lnSpc>
                <a:spcPts val="5123"/>
              </a:lnSpc>
              <a:buFont typeface="Arial"/>
              <a:buChar char="•"/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Fundamentos de JavaScript.</a:t>
            </a:r>
          </a:p>
          <a:p>
            <a:pPr algn="l">
              <a:lnSpc>
                <a:spcPts val="5123"/>
              </a:lnSpc>
            </a:pPr>
          </a:p>
          <a:p>
            <a:pPr algn="l" marL="921850" indent="-460925" lvl="1">
              <a:lnSpc>
                <a:spcPts val="5123"/>
              </a:lnSpc>
              <a:buFont typeface="Arial"/>
              <a:buChar char="•"/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Arrays e Indice, Funciones.</a:t>
            </a:r>
          </a:p>
          <a:p>
            <a:pPr algn="l">
              <a:lnSpc>
                <a:spcPts val="5123"/>
              </a:lnSpc>
            </a:pPr>
          </a:p>
          <a:p>
            <a:pPr algn="l" marL="921850" indent="-460925" lvl="1">
              <a:lnSpc>
                <a:spcPts val="5123"/>
              </a:lnSpc>
              <a:spcBef>
                <a:spcPct val="0"/>
              </a:spcBef>
              <a:buFont typeface="Arial"/>
              <a:buChar char="•"/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DOM básico.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955061" y="3190353"/>
            <a:ext cx="5126006" cy="5126006"/>
          </a:xfrm>
          <a:custGeom>
            <a:avLst/>
            <a:gdLst/>
            <a:ahLst/>
            <a:cxnLst/>
            <a:rect r="r" b="b" t="t" l="l"/>
            <a:pathLst>
              <a:path h="5126006" w="5126006">
                <a:moveTo>
                  <a:pt x="0" y="0"/>
                </a:moveTo>
                <a:lnTo>
                  <a:pt x="5126006" y="0"/>
                </a:lnTo>
                <a:lnTo>
                  <a:pt x="5126006" y="5126006"/>
                </a:lnTo>
                <a:lnTo>
                  <a:pt x="0" y="51260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663775" y="2547328"/>
            <a:ext cx="3701691" cy="3701691"/>
          </a:xfrm>
          <a:custGeom>
            <a:avLst/>
            <a:gdLst/>
            <a:ahLst/>
            <a:cxnLst/>
            <a:rect r="r" b="b" t="t" l="l"/>
            <a:pathLst>
              <a:path h="3701691" w="3701691">
                <a:moveTo>
                  <a:pt x="0" y="0"/>
                </a:moveTo>
                <a:lnTo>
                  <a:pt x="3701690" y="0"/>
                </a:lnTo>
                <a:lnTo>
                  <a:pt x="3701690" y="3701691"/>
                </a:lnTo>
                <a:lnTo>
                  <a:pt x="0" y="37016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38422" y="6259570"/>
            <a:ext cx="7244537" cy="3803382"/>
          </a:xfrm>
          <a:custGeom>
            <a:avLst/>
            <a:gdLst/>
            <a:ahLst/>
            <a:cxnLst/>
            <a:rect r="r" b="b" t="t" l="l"/>
            <a:pathLst>
              <a:path h="3803382" w="7244537">
                <a:moveTo>
                  <a:pt x="0" y="0"/>
                </a:moveTo>
                <a:lnTo>
                  <a:pt x="7244536" y="0"/>
                </a:lnTo>
                <a:lnTo>
                  <a:pt x="7244536" y="3803381"/>
                </a:lnTo>
                <a:lnTo>
                  <a:pt x="0" y="38033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52400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6" id="6"/>
          <p:cNvSpPr txBox="true"/>
          <p:nvPr/>
        </p:nvSpPr>
        <p:spPr>
          <a:xfrm rot="0">
            <a:off x="2038062" y="2918496"/>
            <a:ext cx="10429737" cy="259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 de control de versi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ones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para código.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Registra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todos los cambios en tus proyectos. Permite t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ra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aj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ar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en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eq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ipo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sin conflictos.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21995" y="1028700"/>
            <a:ext cx="1118013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¿Qué es Git?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46755" y="6862919"/>
            <a:ext cx="7590582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Git es un sistema. Visita:</a:t>
            </a:r>
          </a:p>
          <a:p>
            <a:pPr algn="l">
              <a:lnSpc>
                <a:spcPts val="5123"/>
              </a:lnSpc>
            </a:pP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https://git-scm.com/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para descargarlo.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305501" y="2087152"/>
            <a:ext cx="4114079" cy="4114079"/>
          </a:xfrm>
          <a:custGeom>
            <a:avLst/>
            <a:gdLst/>
            <a:ahLst/>
            <a:cxnLst/>
            <a:rect r="r" b="b" t="t" l="l"/>
            <a:pathLst>
              <a:path h="4114079" w="4114079">
                <a:moveTo>
                  <a:pt x="0" y="0"/>
                </a:moveTo>
                <a:lnTo>
                  <a:pt x="4114079" y="0"/>
                </a:lnTo>
                <a:lnTo>
                  <a:pt x="4114079" y="4114079"/>
                </a:lnTo>
                <a:lnTo>
                  <a:pt x="0" y="41140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95388" y="5973352"/>
            <a:ext cx="8097224" cy="4048612"/>
          </a:xfrm>
          <a:custGeom>
            <a:avLst/>
            <a:gdLst/>
            <a:ahLst/>
            <a:cxnLst/>
            <a:rect r="r" b="b" t="t" l="l"/>
            <a:pathLst>
              <a:path h="4048612" w="8097224">
                <a:moveTo>
                  <a:pt x="0" y="0"/>
                </a:moveTo>
                <a:lnTo>
                  <a:pt x="8097224" y="0"/>
                </a:lnTo>
                <a:lnTo>
                  <a:pt x="8097224" y="4048612"/>
                </a:lnTo>
                <a:lnTo>
                  <a:pt x="0" y="40486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6" id="6"/>
          <p:cNvSpPr txBox="true"/>
          <p:nvPr/>
        </p:nvSpPr>
        <p:spPr>
          <a:xfrm rot="0">
            <a:off x="1979724" y="1800813"/>
            <a:ext cx="10954786" cy="388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Almacena repositori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os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Guarda tus proyectos Git en la nube de forma segura.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Colaboración Facilita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el trabajo en equipo entre desarrolladores. Portafolio Comparte y muestra tus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proyectos al mundo.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53933" y="542925"/>
            <a:ext cx="1118013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¿Qué es Github?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87502" y="2340802"/>
            <a:ext cx="15049120" cy="732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0"/>
              </a:lnSpc>
            </a:pP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Gi</a:t>
            </a: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 necesita saber quién es el que está escribiendo el código para firmar cada cambio </a:t>
            </a: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(commit). </a:t>
            </a:r>
          </a:p>
          <a:p>
            <a:pPr algn="l">
              <a:lnSpc>
                <a:spcPts val="5260"/>
              </a:lnSpc>
            </a:pPr>
          </a:p>
          <a:p>
            <a:pPr algn="l">
              <a:lnSpc>
                <a:spcPts val="5260"/>
              </a:lnSpc>
            </a:pP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Ejecuta estos dos comandos en tu terminal (cambiando tus datos): (en CMD, PowerShell o Git Bash)</a:t>
            </a:r>
          </a:p>
          <a:p>
            <a:pPr algn="l">
              <a:lnSpc>
                <a:spcPts val="5260"/>
              </a:lnSpc>
            </a:pPr>
          </a:p>
          <a:p>
            <a:pPr algn="l">
              <a:lnSpc>
                <a:spcPts val="5260"/>
              </a:lnSpc>
            </a:pP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escribe: </a:t>
            </a:r>
          </a:p>
          <a:p>
            <a:pPr algn="l">
              <a:lnSpc>
                <a:spcPts val="5260"/>
              </a:lnSpc>
            </a:pP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git config --global user.name "Tu Nombre" </a:t>
            </a:r>
          </a:p>
          <a:p>
            <a:pPr algn="l">
              <a:lnSpc>
                <a:spcPts val="5260"/>
              </a:lnSpc>
            </a:pP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git config --global user.email"correo@example.com"</a:t>
            </a:r>
          </a:p>
          <a:p>
            <a:pPr algn="l">
              <a:lnSpc>
                <a:spcPts val="526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330342" y="8524005"/>
            <a:ext cx="2283044" cy="2283044"/>
          </a:xfrm>
          <a:custGeom>
            <a:avLst/>
            <a:gdLst/>
            <a:ahLst/>
            <a:cxnLst/>
            <a:rect r="r" b="b" t="t" l="l"/>
            <a:pathLst>
              <a:path h="2283044" w="2283044">
                <a:moveTo>
                  <a:pt x="0" y="0"/>
                </a:moveTo>
                <a:lnTo>
                  <a:pt x="2283045" y="0"/>
                </a:lnTo>
                <a:lnTo>
                  <a:pt x="2283045" y="2283044"/>
                </a:lnTo>
                <a:lnTo>
                  <a:pt x="0" y="22830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21995" y="1028700"/>
            <a:ext cx="1118013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configurar git y github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19440" y="1854646"/>
            <a:ext cx="15049120" cy="799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6478" indent="-473239" lvl="1">
              <a:lnSpc>
                <a:spcPts val="5260"/>
              </a:lnSpc>
              <a:buFont typeface="Arial"/>
              <a:buChar char="•"/>
            </a:pP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Inicializa </a:t>
            </a: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Gi</a:t>
            </a: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 en la carpeta: git init </a:t>
            </a:r>
          </a:p>
          <a:p>
            <a:pPr algn="l">
              <a:lnSpc>
                <a:spcPts val="5260"/>
              </a:lnSpc>
            </a:pPr>
          </a:p>
          <a:p>
            <a:pPr algn="l" marL="946478" indent="-473239" lvl="1">
              <a:lnSpc>
                <a:spcPts val="5260"/>
              </a:lnSpc>
              <a:buFont typeface="Arial"/>
              <a:buChar char="•"/>
            </a:pP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Crea un archivo de prueba (por ejemplo, puedes crear un archivo llamado index.html con cualquier texto adentro, o simplemente crearlo desde tu editor/explorad</a:t>
            </a: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or). </a:t>
            </a:r>
          </a:p>
          <a:p>
            <a:pPr algn="l">
              <a:lnSpc>
                <a:spcPts val="5260"/>
              </a:lnSpc>
            </a:pPr>
          </a:p>
          <a:p>
            <a:pPr algn="l" marL="946478" indent="-473239" lvl="1">
              <a:lnSpc>
                <a:spcPts val="5260"/>
              </a:lnSpc>
              <a:buFont typeface="Arial"/>
              <a:buChar char="•"/>
            </a:pP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Revisa el estado para ver que Git detectó el archivo nuevo: git status </a:t>
            </a:r>
          </a:p>
          <a:p>
            <a:pPr algn="l">
              <a:lnSpc>
                <a:spcPts val="5260"/>
              </a:lnSpc>
            </a:pPr>
          </a:p>
          <a:p>
            <a:pPr algn="l" marL="946478" indent="-473239" lvl="1">
              <a:lnSpc>
                <a:spcPts val="5260"/>
              </a:lnSpc>
              <a:buFont typeface="Arial"/>
              <a:buChar char="•"/>
            </a:pP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Manda el archivo a la "sala de espera" (Staging Area): git add .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53933" y="698113"/>
            <a:ext cx="1118013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configurar git y github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330342" y="8524005"/>
            <a:ext cx="2283044" cy="2283044"/>
          </a:xfrm>
          <a:custGeom>
            <a:avLst/>
            <a:gdLst/>
            <a:ahLst/>
            <a:cxnLst/>
            <a:rect r="r" b="b" t="t" l="l"/>
            <a:pathLst>
              <a:path h="2283044" w="2283044">
                <a:moveTo>
                  <a:pt x="0" y="0"/>
                </a:moveTo>
                <a:lnTo>
                  <a:pt x="2283045" y="0"/>
                </a:lnTo>
                <a:lnTo>
                  <a:pt x="2283045" y="2283044"/>
                </a:lnTo>
                <a:lnTo>
                  <a:pt x="0" y="22830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19440" y="1854646"/>
            <a:ext cx="15049120" cy="799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6478" indent="-473239" lvl="1">
              <a:lnSpc>
                <a:spcPts val="5260"/>
              </a:lnSpc>
              <a:buFont typeface="Arial"/>
              <a:buChar char="•"/>
            </a:pP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Tom</a:t>
            </a: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la fo</a:t>
            </a: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 oficial (Commit) con un mensaje descriptivo: git commit -m "Primer commit: mi archivo inicial de pru</a:t>
            </a: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eba" Una vez que hagas esto, ya tendrás tu historial guardado localmente.</a:t>
            </a:r>
          </a:p>
          <a:p>
            <a:pPr algn="l">
              <a:lnSpc>
                <a:spcPts val="5260"/>
              </a:lnSpc>
            </a:pPr>
          </a:p>
          <a:p>
            <a:pPr algn="l" marL="946478" indent="-473239" lvl="1">
              <a:lnSpc>
                <a:spcPts val="5260"/>
              </a:lnSpc>
              <a:buFont typeface="Arial"/>
              <a:buChar char="•"/>
            </a:pP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Entra a github.com e inicia sesión. </a:t>
            </a:r>
          </a:p>
          <a:p>
            <a:pPr algn="l">
              <a:lnSpc>
                <a:spcPts val="5260"/>
              </a:lnSpc>
            </a:pPr>
          </a:p>
          <a:p>
            <a:pPr algn="l" marL="946478" indent="-473239" lvl="1">
              <a:lnSpc>
                <a:spcPts val="5260"/>
              </a:lnSpc>
              <a:buFont typeface="Arial"/>
              <a:buChar char="•"/>
            </a:pP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Haz clic en el botón + (arriba a la derecha) y selecciona "New repository". </a:t>
            </a:r>
          </a:p>
          <a:p>
            <a:pPr algn="l">
              <a:lnSpc>
                <a:spcPts val="5260"/>
              </a:lnSpc>
            </a:pPr>
          </a:p>
          <a:p>
            <a:pPr algn="l" marL="946478" indent="-473239" lvl="1">
              <a:lnSpc>
                <a:spcPts val="5260"/>
              </a:lnSpc>
              <a:buFont typeface="Arial"/>
              <a:buChar char="•"/>
            </a:pP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Ponle el mismo nombre que tiene tu carpeta local (o el que quieras).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53933" y="698113"/>
            <a:ext cx="1118013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configurar git y github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330342" y="8524005"/>
            <a:ext cx="2283044" cy="2283044"/>
          </a:xfrm>
          <a:custGeom>
            <a:avLst/>
            <a:gdLst/>
            <a:ahLst/>
            <a:cxnLst/>
            <a:rect r="r" b="b" t="t" l="l"/>
            <a:pathLst>
              <a:path h="2283044" w="2283044">
                <a:moveTo>
                  <a:pt x="0" y="0"/>
                </a:moveTo>
                <a:lnTo>
                  <a:pt x="2283045" y="0"/>
                </a:lnTo>
                <a:lnTo>
                  <a:pt x="2283045" y="2283044"/>
                </a:lnTo>
                <a:lnTo>
                  <a:pt x="0" y="22830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19440" y="1854646"/>
            <a:ext cx="15049120" cy="599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6478" indent="-473239" lvl="1">
              <a:lnSpc>
                <a:spcPts val="5260"/>
              </a:lnSpc>
              <a:buFont typeface="Arial"/>
              <a:buChar char="•"/>
            </a:pP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¡IMPORTANTE! Asegúr</a:t>
            </a: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ate de que el reposi</a:t>
            </a: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torio esté configurado como "Public" (o "Private" , como prefi</a:t>
            </a: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eras) y NO marques ninguna de las casillas (no crees el README, ni el .gitignore, ni l</a:t>
            </a: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licencia). Queremos que el repositorio esté totalmente vacío al principio. </a:t>
            </a:r>
          </a:p>
          <a:p>
            <a:pPr algn="l">
              <a:lnSpc>
                <a:spcPts val="5260"/>
              </a:lnSpc>
            </a:pPr>
          </a:p>
          <a:p>
            <a:pPr algn="l" marL="946478" indent="-473239" lvl="1">
              <a:lnSpc>
                <a:spcPts val="5260"/>
              </a:lnSpc>
              <a:buFont typeface="Arial"/>
              <a:buChar char="•"/>
            </a:pP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Haz clic en "Create repository".</a:t>
            </a:r>
          </a:p>
          <a:p>
            <a:pPr algn="l">
              <a:lnSpc>
                <a:spcPts val="526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553933" y="698113"/>
            <a:ext cx="1118013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configurar git y github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330342" y="8524005"/>
            <a:ext cx="2283044" cy="2283044"/>
          </a:xfrm>
          <a:custGeom>
            <a:avLst/>
            <a:gdLst/>
            <a:ahLst/>
            <a:cxnLst/>
            <a:rect r="r" b="b" t="t" l="l"/>
            <a:pathLst>
              <a:path h="2283044" w="2283044">
                <a:moveTo>
                  <a:pt x="0" y="0"/>
                </a:moveTo>
                <a:lnTo>
                  <a:pt x="2283045" y="0"/>
                </a:lnTo>
                <a:lnTo>
                  <a:pt x="2283045" y="2283044"/>
                </a:lnTo>
                <a:lnTo>
                  <a:pt x="0" y="22830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19440" y="1854646"/>
            <a:ext cx="15049120" cy="732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6478" indent="-473239" lvl="1">
              <a:lnSpc>
                <a:spcPts val="5260"/>
              </a:lnSpc>
              <a:buFont typeface="Arial"/>
              <a:buChar char="•"/>
            </a:pP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GitHub te mos</a:t>
            </a: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trará una pantalla con comandos. Copia y pega estos tre</a:t>
            </a: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 en tu terminal, uno por uno: </a:t>
            </a:r>
          </a:p>
          <a:p>
            <a:pPr algn="l">
              <a:lnSpc>
                <a:spcPts val="5260"/>
              </a:lnSpc>
            </a:pPr>
          </a:p>
          <a:p>
            <a:pPr algn="l" marL="946478" indent="-473239" lvl="1">
              <a:lnSpc>
                <a:spcPts val="5260"/>
              </a:lnSpc>
              <a:buFont typeface="Arial"/>
              <a:buChar char="•"/>
            </a:pP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Vincula tu carpeta local con el repositorio de la nube:(Copia la URL que aparece en l</a:t>
            </a: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pantalla de GitHub de tu nuevo repositorio): git remote add origin https://github.com/TU_USUARIO/NOMBRE_DEL_REPO.git </a:t>
            </a:r>
          </a:p>
          <a:p>
            <a:pPr algn="l">
              <a:lnSpc>
                <a:spcPts val="526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553933" y="698113"/>
            <a:ext cx="1118013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configurar git y github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330342" y="8524005"/>
            <a:ext cx="2283044" cy="2283044"/>
          </a:xfrm>
          <a:custGeom>
            <a:avLst/>
            <a:gdLst/>
            <a:ahLst/>
            <a:cxnLst/>
            <a:rect r="r" b="b" t="t" l="l"/>
            <a:pathLst>
              <a:path h="2283044" w="2283044">
                <a:moveTo>
                  <a:pt x="0" y="0"/>
                </a:moveTo>
                <a:lnTo>
                  <a:pt x="2283045" y="0"/>
                </a:lnTo>
                <a:lnTo>
                  <a:pt x="2283045" y="2283044"/>
                </a:lnTo>
                <a:lnTo>
                  <a:pt x="0" y="22830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19440" y="1854646"/>
            <a:ext cx="15049120" cy="665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6478" indent="-473239" lvl="1">
              <a:lnSpc>
                <a:spcPts val="5260"/>
              </a:lnSpc>
              <a:buFont typeface="Arial"/>
              <a:buChar char="•"/>
            </a:pP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Renomb</a:t>
            </a: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ra tu rama local a main (para que coincida con el estándar</a:t>
            </a: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 GitHub): git branch -M main </a:t>
            </a:r>
          </a:p>
          <a:p>
            <a:pPr algn="l">
              <a:lnSpc>
                <a:spcPts val="5260"/>
              </a:lnSpc>
            </a:pPr>
          </a:p>
          <a:p>
            <a:pPr algn="l" marL="946478" indent="-473239" lvl="1">
              <a:lnSpc>
                <a:spcPts val="5260"/>
              </a:lnSpc>
              <a:buFont typeface="Arial"/>
              <a:buChar char="•"/>
            </a:pP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Sube tus archivos a la nube: git push -u origin m</a:t>
            </a: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ain</a:t>
            </a:r>
          </a:p>
          <a:p>
            <a:pPr algn="l">
              <a:lnSpc>
                <a:spcPts val="5260"/>
              </a:lnSpc>
            </a:pPr>
          </a:p>
          <a:p>
            <a:pPr algn="l" marL="946478" indent="-473239" lvl="1">
              <a:lnSpc>
                <a:spcPts val="5260"/>
              </a:lnSpc>
              <a:buFont typeface="Arial"/>
              <a:buChar char="•"/>
            </a:pP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Posterior a eso todo tu proyecto estará alojado en la nube con github</a:t>
            </a:r>
          </a:p>
          <a:p>
            <a:pPr algn="l">
              <a:lnSpc>
                <a:spcPts val="526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553933" y="698113"/>
            <a:ext cx="1118013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configurar git y github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330342" y="8524005"/>
            <a:ext cx="2283044" cy="2283044"/>
          </a:xfrm>
          <a:custGeom>
            <a:avLst/>
            <a:gdLst/>
            <a:ahLst/>
            <a:cxnLst/>
            <a:rect r="r" b="b" t="t" l="l"/>
            <a:pathLst>
              <a:path h="2283044" w="2283044">
                <a:moveTo>
                  <a:pt x="0" y="0"/>
                </a:moveTo>
                <a:lnTo>
                  <a:pt x="2283045" y="0"/>
                </a:lnTo>
                <a:lnTo>
                  <a:pt x="2283045" y="2283044"/>
                </a:lnTo>
                <a:lnTo>
                  <a:pt x="0" y="22830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054186" y="3150697"/>
            <a:ext cx="13403694" cy="578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Actividad VI</a:t>
            </a:r>
          </a:p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Vamos a practicar haciendo un pequeño sitio web como una tienda en línea, y el código lo alojarás al Github.</a:t>
            </a:r>
          </a:p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Recuerda... A programar se aprende programando.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DAHZYnLGW-w</dc:identifier>
  <dcterms:modified xsi:type="dcterms:W3CDTF">2011-08-01T06:04:30Z</dcterms:modified>
  <cp:revision>1</cp:revision>
  <dc:title>Curso de Introducción al Desarrollo Web Módulo VI</dc:title>
</cp:coreProperties>
</file>